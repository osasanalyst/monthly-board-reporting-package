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Revenue: Actual vs. Forward Forecast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2026-07</c:v>
                </c:pt>
                <c:pt idx="1">
                  <c:v>2026-08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867953.46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2026-07</c:v>
                </c:pt>
                <c:pt idx="1">
                  <c:v>2026-08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862015.66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F2A44"/>
                </a:solidFill>
              </a:rPr>
              <a:t>Monthly Board Reporting Package</a:t>
            </a:r>
          </a:p>
          <a:p>
            <a:r>
              <a:rPr sz="2000">
                <a:solidFill>
                  <a:srgbClr val="6B7280"/>
                </a:solidFill>
              </a:rPr>
              <a:t>Olist Marketplace  •  2026-07</a:t>
            </a:r>
          </a:p>
          <a:p>
            <a:r>
              <a:rPr sz="1300" i="1">
                <a:solidFill>
                  <a:srgbClr val="6B7280"/>
                </a:solidFill>
              </a:rPr>
              <a:t>Generated automatically from validated actuals, budget, and forecast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Financial Summary</a:t>
            </a:r>
          </a:p>
          <a:p>
            <a:r>
              <a:rPr sz="1400">
                <a:solidFill>
                  <a:srgbClr val="6B7280"/>
                </a:solidFill>
              </a:rPr>
              <a:t>2026-07 - Actual vs. Budget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Actual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$867,953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Budget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$502,128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45920"/>
            <a:ext cx="33832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Variance</a:t>
            </a:r>
          </a:p>
          <a:p>
            <a:pPr algn="l"/>
            <a:r>
              <a:rPr sz="2400" b="1">
                <a:solidFill>
                  <a:srgbClr val="1B7F3B"/>
                </a:solidFill>
              </a:rPr>
              <a:t>$+365,826  (+72.9%)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64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B7280"/>
                </a:solidFill>
              </a:rPr>
              <a:t>Note: this simulated dataset's budget was built from 2016-2017 same-month-prior-year growth rates (2-10% tiers), while the underlying actuals are real 2017-2018 marketplace order data from a period of genuine hypergrowth. Large variances above largely reflect that mismatch in the data setup, not real business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- 2026-07  |  Financial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KPI Dashboard</a:t>
            </a:r>
          </a:p>
          <a:p>
            <a:r>
              <a:rPr sz="1400">
                <a:solidFill>
                  <a:srgbClr val="6B7280"/>
                </a:solidFill>
              </a:rPr>
              <a:t>2026-07 — Totals and Trend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Total Revenue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$867,953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0128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Total Units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6,963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71616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Blended Avg Price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$124.65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3104" y="1645920"/>
            <a:ext cx="2560320" cy="11887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Revenue Growth MoM</a:t>
            </a:r>
          </a:p>
          <a:p>
            <a:pPr algn="l"/>
            <a:r>
              <a:rPr sz="2400" b="1">
                <a:solidFill>
                  <a:srgbClr val="1B7F3B"/>
                </a:solidFill>
              </a:rPr>
              <a:t>+1.4%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200400"/>
          <a:ext cx="110642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- 2026-07  |  KPI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Variance Highlights</a:t>
            </a:r>
          </a:p>
          <a:p>
            <a:r>
              <a:rPr sz="1400">
                <a:solidFill>
                  <a:srgbClr val="6B7280"/>
                </a:solidFill>
              </a:rPr>
              <a:t>2026-07 - Top Material Variances vs. Budget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4592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28800"/>
                <a:gridCol w="1828800"/>
                <a:gridCol w="1828800"/>
                <a:gridCol w="1828800"/>
              </a:tblGrid>
              <a:tr h="4673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Budget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Variance ($)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Variance (%)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Health Beauty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$103,524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$35,951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$+67,573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+188.0%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Watches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$95,165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$35,388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$+59,777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+168.9%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Housewares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$62,583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$20,657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$+41,927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+203.0%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$43,467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$14,581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$+28,886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+198.1%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Furniture Decor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$45,394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$24,509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$+20,885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+85.2%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Cool Stuff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$21,152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$38,486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B3261E"/>
                          </a:solidFill>
                        </a:rPr>
                        <a:t>$-17,334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-45.0%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Telephony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$26,493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$9,506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$+16,987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+178.7%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r>
                        <a:rPr sz="1200"/>
                        <a:t>Sports Leisure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$54,016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$38,450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B7F3B"/>
                          </a:solidFill>
                        </a:rPr>
                        <a:t>$+15,566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+40.5%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- 2026-07  |  Variance Highlights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Commentary</a:t>
            </a:r>
          </a:p>
          <a:p>
            <a:r>
              <a:rPr sz="1400">
                <a:solidFill>
                  <a:srgbClr val="6B7280"/>
                </a:solidFill>
              </a:rPr>
              <a:t>2026-07 - What Drove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Health Beauty beat budget by $67,573 (188.0%),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Watches Gifts beat budget by $59,777 (168.9%),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Housewares beat budget by $41,927 (203.0%), driven by a mix of price and volume changes, in roughly similar measure.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Auto beat budget by $28,886 (198.1%), driven primarily by volume - a different number of units sold than planned, not a price change.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Furniture Decor beat budget by $20,885 (85.2%), driven by a mix of price and volume changes, in roughly similar measure.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1F2A44"/>
                </a:solidFill>
              </a:rPr>
              <a:t>•  Cool Stuff missed budget by $17,334 (45.0%), driven primarily by volume - a different number of units sold than planned, not a price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- 2026-07  |  Commentary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A44"/>
                </a:solidFill>
              </a:rPr>
              <a:t>Outlook</a:t>
            </a:r>
          </a:p>
          <a:p>
            <a:r>
              <a:rPr sz="1400">
                <a:solidFill>
                  <a:srgbClr val="6B7280"/>
                </a:solidFill>
              </a:rPr>
              <a:t>2026-07 — Rolling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A44"/>
                </a:solidFill>
              </a:rPr>
              <a:t>Forecast accuracy (trailing-average method, validated on known months):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7280"/>
                </a:solidFill>
              </a:rPr>
              <a:t>•  2026-07: forecast $856,078 vs. actual $867,953  (+1.4% error)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3840480" cy="146304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l"/>
            <a:r>
              <a:rPr sz="1300">
                <a:solidFill>
                  <a:srgbClr val="6B7280"/>
                </a:solidFill>
              </a:rPr>
              <a:t>Forward Forecast — 2026-08</a:t>
            </a:r>
          </a:p>
          <a:p>
            <a:pPr algn="l"/>
            <a:r>
              <a:rPr sz="2400" b="1">
                <a:solidFill>
                  <a:srgbClr val="1F2A44"/>
                </a:solidFill>
              </a:rPr>
              <a:t>$862,016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Monthly Board Reporting Package - 2026-07  |  Outlook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