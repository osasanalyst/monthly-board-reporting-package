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Revenue: Actual vs. Forward Forecast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867953.46</c:v>
                </c:pt>
                <c:pt idx="1">
                  <c:v>838576.64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2">
                  <c:v>854202.65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F2A44"/>
                </a:solidFill>
              </a:rPr>
              <a:t>Monthly Board Reporting Package</a:t>
            </a:r>
          </a:p>
          <a:p>
            <a:r>
              <a:rPr sz="2000">
                <a:solidFill>
                  <a:srgbClr val="6B7280"/>
                </a:solidFill>
              </a:rPr>
              <a:t>Olist Marketplace  •  2026-08</a:t>
            </a:r>
          </a:p>
          <a:p>
            <a:r>
              <a:rPr sz="1300" i="1">
                <a:solidFill>
                  <a:srgbClr val="6B7280"/>
                </a:solidFill>
              </a:rPr>
              <a:t>Generated automatically from validated actuals, budget, and forecast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Financial Summary</a:t>
            </a:r>
          </a:p>
          <a:p>
            <a:r>
              <a:rPr sz="1400">
                <a:solidFill>
                  <a:srgbClr val="6B7280"/>
                </a:solidFill>
              </a:rPr>
              <a:t>2026-08 - Actual vs. Budget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Actual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$838,577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Budget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$579,865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Variance</a:t>
            </a:r>
          </a:p>
          <a:p>
            <a:pPr algn="l"/>
            <a:r>
              <a:rPr sz="2400" b="1">
                <a:solidFill>
                  <a:srgbClr val="1B7F3B"/>
                </a:solidFill>
              </a:rPr>
              <a:t>$+258,712  (+44.6%)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7280"/>
                </a:solidFill>
              </a:rPr>
              <a:t>Note: this simulated dataset's budget was built from 2016-2017 same-month-prior-year growth rates (2-10% tiers), while the underlying actuals are real 2017-2018 marketplace order data from a period of genuine hypergrowth. Large variances above largely reflect that mismatch in the data setup, not real business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- 2026-08  |  Financial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KPI Dashboard</a:t>
            </a:r>
          </a:p>
          <a:p>
            <a:r>
              <a:rPr sz="1400">
                <a:solidFill>
                  <a:srgbClr val="6B7280"/>
                </a:solidFill>
              </a:rPr>
              <a:t>2026-08 — Totals and Trend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Total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$838,577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10128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Total Units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7,142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71616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Blended Avg Price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$117.41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3104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Revenue Growth MoM</a:t>
            </a:r>
          </a:p>
          <a:p>
            <a:pPr algn="l"/>
            <a:r>
              <a:rPr sz="2400" b="1">
                <a:solidFill>
                  <a:srgbClr val="B3261E"/>
                </a:solidFill>
              </a:rPr>
              <a:t>-3.4%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200400"/>
          <a:ext cx="110642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- 2026-08  |  KPI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Variance Highlights</a:t>
            </a:r>
          </a:p>
          <a:p>
            <a:r>
              <a:rPr sz="1400">
                <a:solidFill>
                  <a:srgbClr val="6B7280"/>
                </a:solidFill>
              </a:rPr>
              <a:t>2026-08 - Top Material Variances vs.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828800"/>
                <a:gridCol w="1828800"/>
                <a:gridCol w="1828800"/>
                <a:gridCol w="1828800"/>
              </a:tblGrid>
              <a:tr h="4673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Variance ($)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Variance (%)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Health Beauty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$119,391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$51,482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$+67,909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+131.9%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Housewares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$58,763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$23,896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$+34,867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+145.9%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Watches Gifts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$69,767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$37,979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$+31,788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+83.7%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$8,712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$35,640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3261E"/>
                          </a:solidFill>
                        </a:rPr>
                        <a:t>$-26,928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-75.6%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Telephony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$36,573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$11,081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$+25,492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+230.1%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$45,033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$19,869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$+25,164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+126.7%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Cool Stuff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$15,795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$40,178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3261E"/>
                          </a:solidFill>
                        </a:rPr>
                        <a:t>$-24,383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-60.7%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Construction Tools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$22,917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$+21,714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+1804.0%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- 2026-08  |  Variance Highlights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Commentary</a:t>
            </a:r>
          </a:p>
          <a:p>
            <a:r>
              <a:rPr sz="1400">
                <a:solidFill>
                  <a:srgbClr val="6B7280"/>
                </a:solidFill>
              </a:rPr>
              <a:t>2026-08 - What Drove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Health Beauty beat budget by $67,909 (131.9%),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Housewares beat budget by $34,867 (145.9%),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Watches Gifts beat budget by $31,788 (83.7%),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Computers missed budget by $26,928 (75.6%),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Telephony beat budget by $25,492 (230.1%), driven by a mix of price and volume changes, in roughly similar measure.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Auto beat budget by $25,164 (126.7%), driven primarily by volume - a different number of units sold than planned, not a price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- 2026-08  |  Commentary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Outlook</a:t>
            </a:r>
          </a:p>
          <a:p>
            <a:r>
              <a:rPr sz="1400">
                <a:solidFill>
                  <a:srgbClr val="6B7280"/>
                </a:solidFill>
              </a:rPr>
              <a:t>2026-08 — Rolling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A44"/>
                </a:solidFill>
              </a:rPr>
              <a:t>Forecast accuracy (trailing-average method, validated on known months):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7280"/>
                </a:solidFill>
              </a:rPr>
              <a:t>•  2026-07: forecast $856,078 vs. actual $867,953  (+1.4% error)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7280"/>
                </a:solidFill>
              </a:rPr>
              <a:t>•  2026-08: forecast $862,016 vs. actual $838,577  (-2.7% error)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384048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Forward Forecast — 2026-09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$854,203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- 2026-08  | 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