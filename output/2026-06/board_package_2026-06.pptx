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Revenue: Actual vs. Forward Forecast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Revenue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2026-07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2026-07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856077.86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1F2A44"/>
                </a:solidFill>
              </a:rPr>
              <a:t>Monthly Board Reporting Package</a:t>
            </a:r>
          </a:p>
          <a:p>
            <a:r>
              <a:rPr sz="2000">
                <a:solidFill>
                  <a:srgbClr val="6B7280"/>
                </a:solidFill>
              </a:rPr>
              <a:t>Olist Marketplace  •  2026-06</a:t>
            </a:r>
          </a:p>
          <a:p>
            <a:r>
              <a:rPr sz="1300" i="1">
                <a:solidFill>
                  <a:srgbClr val="6B7280"/>
                </a:solidFill>
              </a:rPr>
              <a:t>Generated automatically from validated actuals, budget, and forecast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Financial Summary</a:t>
            </a:r>
          </a:p>
          <a:p>
            <a:r>
              <a:rPr sz="1400">
                <a:solidFill>
                  <a:srgbClr val="6B7280"/>
                </a:solidFill>
              </a:rPr>
              <a:t>2026-06 - Actual vs. Budget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38328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Actual Revenue</a:t>
            </a:r>
          </a:p>
          <a:p>
            <a:pPr algn="l"/>
            <a:r>
              <a:rPr sz="2400" b="1">
                <a:solidFill>
                  <a:srgbClr val="1F2A44"/>
                </a:solidFill>
              </a:rPr>
              <a:t>$856,078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0520" y="1645920"/>
            <a:ext cx="338328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Budget Revenue</a:t>
            </a:r>
          </a:p>
          <a:p>
            <a:pPr algn="l"/>
            <a:r>
              <a:rPr sz="2400" b="1">
                <a:solidFill>
                  <a:srgbClr val="1F2A44"/>
                </a:solidFill>
              </a:rPr>
              <a:t>$441,279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645920"/>
            <a:ext cx="338328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Variance</a:t>
            </a:r>
          </a:p>
          <a:p>
            <a:pPr algn="l"/>
            <a:r>
              <a:rPr sz="2400" b="1">
                <a:solidFill>
                  <a:srgbClr val="1B7F3B"/>
                </a:solidFill>
              </a:rPr>
              <a:t>$+414,798  (+94.0%)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7280"/>
                </a:solidFill>
              </a:rPr>
              <a:t>Note: this simulated dataset's budget was built from 2016-2017 same-month-prior-year growth rates (2-10% tiers), while the underlying actuals are real 2017-2018 marketplace order data from a period of genuine hypergrowth. Large variances above largely reflect that mismatch in the data setup, not real business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Monthly Board Reporting Package - 2026-06  |  Financial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KPI Dashboard</a:t>
            </a:r>
          </a:p>
          <a:p>
            <a:r>
              <a:rPr sz="1400">
                <a:solidFill>
                  <a:srgbClr val="6B7280"/>
                </a:solidFill>
              </a:rPr>
              <a:t>2026-06 — Totals and Trend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560320" cy="1188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Total Revenue</a:t>
            </a:r>
          </a:p>
          <a:p>
            <a:pPr algn="l"/>
            <a:r>
              <a:rPr sz="2400" b="1">
                <a:solidFill>
                  <a:srgbClr val="1F2A44"/>
                </a:solidFill>
              </a:rPr>
              <a:t>$856,078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10128" y="1645920"/>
            <a:ext cx="2560320" cy="1188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Total Units</a:t>
            </a:r>
          </a:p>
          <a:p>
            <a:pPr algn="l"/>
            <a:r>
              <a:rPr sz="2400" b="1">
                <a:solidFill>
                  <a:srgbClr val="1F2A44"/>
                </a:solidFill>
              </a:rPr>
              <a:t>7,010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71616" y="1645920"/>
            <a:ext cx="2560320" cy="1188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Blended Avg Price</a:t>
            </a:r>
          </a:p>
          <a:p>
            <a:pPr algn="l"/>
            <a:r>
              <a:rPr sz="2400" b="1">
                <a:solidFill>
                  <a:srgbClr val="1F2A44"/>
                </a:solidFill>
              </a:rPr>
              <a:t>$122.12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3104" y="1645920"/>
            <a:ext cx="2560320" cy="1188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Revenue Growth MoM</a:t>
            </a:r>
          </a:p>
          <a:p>
            <a:pPr algn="l"/>
            <a:r>
              <a:rPr sz="2400" b="1">
                <a:solidFill>
                  <a:srgbClr val="6B7280"/>
                </a:solidFill>
              </a:rPr>
              <a:t>N/A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200400"/>
          <a:ext cx="110642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Monthly Board Reporting Package - 2026-06  |  KPI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Variance Highlights</a:t>
            </a:r>
          </a:p>
          <a:p>
            <a:r>
              <a:rPr sz="1400">
                <a:solidFill>
                  <a:srgbClr val="6B7280"/>
                </a:solidFill>
              </a:rPr>
              <a:t>2026-06 - Top Material Variances vs. Budget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110642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828800"/>
                <a:gridCol w="1828800"/>
                <a:gridCol w="1828800"/>
                <a:gridCol w="1828800"/>
              </a:tblGrid>
              <a:tr h="4673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Budget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Variance ($)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Variance (%)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Health Beauty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$106,746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$33,261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7F3B"/>
                          </a:solidFill>
                        </a:rPr>
                        <a:t>$+73,485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+220.9%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Watches Gifts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$85,028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$28,705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7F3B"/>
                          </a:solidFill>
                        </a:rPr>
                        <a:t>$+56,323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+196.2%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Bed Bath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$70,857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$34,479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7F3B"/>
                          </a:solidFill>
                        </a:rPr>
                        <a:t>$+36,378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+105.5%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Housewares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$55,913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$23,438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7F3B"/>
                          </a:solidFill>
                        </a:rPr>
                        <a:t>$+32,475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+138.6%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Furniture Decor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$42,042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$16,947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7F3B"/>
                          </a:solidFill>
                        </a:rPr>
                        <a:t>$+25,096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+148.1%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Construction Tools 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$22,948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7F3B"/>
                          </a:solidFill>
                        </a:rPr>
                        <a:t>$+22,564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+5877.6%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Baby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$30,550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$8,258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7F3B"/>
                          </a:solidFill>
                        </a:rPr>
                        <a:t>$+22,292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+269.9%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Cool Stuff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$19,316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$40,015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B3261E"/>
                          </a:solidFill>
                        </a:rPr>
                        <a:t>$-20,699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-51.7%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Monthly Board Reporting Package - 2026-06  |  Variance Highlights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Commentary</a:t>
            </a:r>
          </a:p>
          <a:p>
            <a:r>
              <a:rPr sz="1400">
                <a:solidFill>
                  <a:srgbClr val="6B7280"/>
                </a:solidFill>
              </a:rPr>
              <a:t>2026-06 - What Drove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F2A44"/>
                </a:solidFill>
              </a:rPr>
              <a:t>•  Health Beauty beat budget by $73,485 (220.9%), driven primarily by volume - a different number of units sold than planned, not a price change.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F2A44"/>
                </a:solidFill>
              </a:rPr>
              <a:t>•  Watches Gifts beat budget by $56,323 (196.2%), driven primarily by volume - a different number of units sold than planned, not a price change.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F2A44"/>
                </a:solidFill>
              </a:rPr>
              <a:t>•  Bed Bath Table beat budget by $36,378 (105.5%), driven primarily by volume - a different number of units sold than planned, not a price change.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F2A44"/>
                </a:solidFill>
              </a:rPr>
              <a:t>•  Housewares beat budget by $32,475 (138.6%), driven by a mix of price and volume changes, in roughly similar measure.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F2A44"/>
                </a:solidFill>
              </a:rPr>
              <a:t>•  Furniture Decor beat budget by $25,096 (148.1%), driven by a mix of price and volume changes, in roughly similar measure.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F2A44"/>
                </a:solidFill>
              </a:rPr>
              <a:t>•  Construction Tools Construction beat budget by $22,564 (5877.6%), driven primarily by price - units sold at a different average price than planned, not a change in volume. (Note: budget for this category was only $384, so the percentage above is directionally noisy.)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Monthly Board Reporting Package - 2026-06  |  Commentary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Outlook</a:t>
            </a:r>
          </a:p>
          <a:p>
            <a:r>
              <a:rPr sz="1400">
                <a:solidFill>
                  <a:srgbClr val="6B7280"/>
                </a:solidFill>
              </a:rPr>
              <a:t>2026-06 — Rolling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2A44"/>
                </a:solidFill>
              </a:rPr>
              <a:t>Forecast accuracy (trailing-average method, validated on known months):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926080"/>
            <a:ext cx="3840480" cy="1463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Forward Forecast — 2026-07</a:t>
            </a:r>
          </a:p>
          <a:p>
            <a:pPr algn="l"/>
            <a:r>
              <a:rPr sz="2400" b="1">
                <a:solidFill>
                  <a:srgbClr val="1F2A44"/>
                </a:solidFill>
              </a:rPr>
              <a:t>$856,078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Monthly Board Reporting Package - 2026-06  |  Outlook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